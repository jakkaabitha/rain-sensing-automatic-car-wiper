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sldIdLst>
    <p:sldId id="265"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3299141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1006251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2576863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C307F8-CC8F-455D-8896-3F521887D14C}"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603925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C307F8-CC8F-455D-8896-3F521887D14C}" type="datetimeFigureOut">
              <a:rPr lang="en-IN" smtClean="0"/>
              <a:t>04-04-2026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898266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2482094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1360399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2696462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C307F8-CC8F-455D-8896-3F521887D14C}"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2942568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C307F8-CC8F-455D-8896-3F521887D14C}"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611970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2366829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2446516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3935552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3620713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3932314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39972959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C307F8-CC8F-455D-8896-3F521887D14C}"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4462B-63DE-4612-8701-479422E6042B}" type="slidenum">
              <a:rPr lang="en-IN" smtClean="0"/>
              <a:t>‹#›</a:t>
            </a:fld>
            <a:endParaRPr lang="en-IN"/>
          </a:p>
        </p:txBody>
      </p:sp>
    </p:spTree>
    <p:extLst>
      <p:ext uri="{BB962C8B-B14F-4D97-AF65-F5344CB8AC3E}">
        <p14:creationId xmlns:p14="http://schemas.microsoft.com/office/powerpoint/2010/main" val="1270164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CC307F8-CC8F-455D-8896-3F521887D14C}" type="datetimeFigureOut">
              <a:rPr lang="en-IN" smtClean="0"/>
              <a:t>04-04-2026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194462B-63DE-4612-8701-479422E6042B}" type="slidenum">
              <a:rPr lang="en-IN" smtClean="0"/>
              <a:t>‹#›</a:t>
            </a:fld>
            <a:endParaRPr lang="en-IN"/>
          </a:p>
        </p:txBody>
      </p:sp>
    </p:spTree>
    <p:extLst>
      <p:ext uri="{BB962C8B-B14F-4D97-AF65-F5344CB8AC3E}">
        <p14:creationId xmlns:p14="http://schemas.microsoft.com/office/powerpoint/2010/main" val="1804352670"/>
      </p:ext>
    </p:extLst>
  </p:cSld>
  <p:clrMap bg1="dk1" tx1="lt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F23CA3-3938-D102-7F81-BE5D74C6E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539" y="703157"/>
            <a:ext cx="8713075" cy="141174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7B96B84-E219-EC2F-DCF6-A50035EEF4C5}"/>
              </a:ext>
            </a:extLst>
          </p:cNvPr>
          <p:cNvSpPr txBox="1"/>
          <p:nvPr/>
        </p:nvSpPr>
        <p:spPr>
          <a:xfrm>
            <a:off x="1897017" y="2301855"/>
            <a:ext cx="3484879" cy="461665"/>
          </a:xfrm>
          <a:prstGeom prst="rect">
            <a:avLst/>
          </a:prstGeom>
          <a:noFill/>
        </p:spPr>
        <p:txBody>
          <a:bodyPr wrap="square" rtlCol="0">
            <a:spAutoFit/>
          </a:bodyPr>
          <a:lstStyle/>
          <a:p>
            <a:r>
              <a:rPr lang="en-IN" sz="2400" b="1" dirty="0">
                <a:latin typeface="+mj-lt"/>
              </a:rPr>
              <a:t>Topic:-</a:t>
            </a:r>
          </a:p>
        </p:txBody>
      </p:sp>
      <p:sp>
        <p:nvSpPr>
          <p:cNvPr id="4" name="TextBox 3">
            <a:extLst>
              <a:ext uri="{FF2B5EF4-FFF2-40B4-BE49-F238E27FC236}">
                <a16:creationId xmlns:a16="http://schemas.microsoft.com/office/drawing/2014/main" id="{6F49422B-CFC8-3BF2-ADCB-5DFD8AFAFE76}"/>
              </a:ext>
            </a:extLst>
          </p:cNvPr>
          <p:cNvSpPr txBox="1"/>
          <p:nvPr/>
        </p:nvSpPr>
        <p:spPr>
          <a:xfrm>
            <a:off x="2656114" y="2688859"/>
            <a:ext cx="6525443" cy="523220"/>
          </a:xfrm>
          <a:prstGeom prst="rect">
            <a:avLst/>
          </a:prstGeom>
          <a:noFill/>
        </p:spPr>
        <p:txBody>
          <a:bodyPr wrap="square" rtlCol="0">
            <a:spAutoFit/>
          </a:bodyPr>
          <a:lstStyle/>
          <a:p>
            <a:r>
              <a:rPr lang="en-IN" sz="2800" b="1" dirty="0"/>
              <a:t>RAIN SENSING AUTOMATIC CAR WIPER</a:t>
            </a:r>
          </a:p>
        </p:txBody>
      </p:sp>
      <p:sp>
        <p:nvSpPr>
          <p:cNvPr id="5" name="TextBox 4">
            <a:extLst>
              <a:ext uri="{FF2B5EF4-FFF2-40B4-BE49-F238E27FC236}">
                <a16:creationId xmlns:a16="http://schemas.microsoft.com/office/drawing/2014/main" id="{1A77C04A-22BB-40BB-3271-C7549E9A0BB3}"/>
              </a:ext>
            </a:extLst>
          </p:cNvPr>
          <p:cNvSpPr txBox="1"/>
          <p:nvPr/>
        </p:nvSpPr>
        <p:spPr>
          <a:xfrm>
            <a:off x="653539" y="3974737"/>
            <a:ext cx="3268221" cy="923330"/>
          </a:xfrm>
          <a:prstGeom prst="rect">
            <a:avLst/>
          </a:prstGeom>
          <a:noFill/>
        </p:spPr>
        <p:txBody>
          <a:bodyPr wrap="square" rtlCol="0">
            <a:spAutoFit/>
          </a:bodyPr>
          <a:lstStyle/>
          <a:p>
            <a:r>
              <a:rPr lang="en-IN" b="1" dirty="0"/>
              <a:t>Guide:-</a:t>
            </a:r>
          </a:p>
          <a:p>
            <a:r>
              <a:rPr lang="en-IN" dirty="0" err="1"/>
              <a:t>Y.Sharvani</a:t>
            </a:r>
            <a:endParaRPr lang="en-IN" dirty="0"/>
          </a:p>
          <a:p>
            <a:r>
              <a:rPr lang="en-IN" dirty="0"/>
              <a:t>Assistant Professor</a:t>
            </a:r>
          </a:p>
        </p:txBody>
      </p:sp>
      <p:sp>
        <p:nvSpPr>
          <p:cNvPr id="6" name="TextBox 5">
            <a:extLst>
              <a:ext uri="{FF2B5EF4-FFF2-40B4-BE49-F238E27FC236}">
                <a16:creationId xmlns:a16="http://schemas.microsoft.com/office/drawing/2014/main" id="{72627359-9866-0AB4-FCB0-EF3984CDCEF8}"/>
              </a:ext>
            </a:extLst>
          </p:cNvPr>
          <p:cNvSpPr txBox="1"/>
          <p:nvPr/>
        </p:nvSpPr>
        <p:spPr>
          <a:xfrm>
            <a:off x="6901542" y="3974737"/>
            <a:ext cx="3428999" cy="1477328"/>
          </a:xfrm>
          <a:prstGeom prst="rect">
            <a:avLst/>
          </a:prstGeom>
          <a:noFill/>
        </p:spPr>
        <p:txBody>
          <a:bodyPr wrap="square" rtlCol="0">
            <a:spAutoFit/>
          </a:bodyPr>
          <a:lstStyle/>
          <a:p>
            <a:r>
              <a:rPr lang="en-IN" b="1" dirty="0"/>
              <a:t>Presented by:-</a:t>
            </a:r>
          </a:p>
          <a:p>
            <a:r>
              <a:rPr lang="en-IN" dirty="0" err="1"/>
              <a:t>G.Girija</a:t>
            </a:r>
            <a:r>
              <a:rPr lang="en-IN" dirty="0"/>
              <a:t>(246Y1A0421)</a:t>
            </a:r>
          </a:p>
          <a:p>
            <a:r>
              <a:rPr lang="en-IN" dirty="0" err="1"/>
              <a:t>J.Abitha</a:t>
            </a:r>
            <a:r>
              <a:rPr lang="en-IN" dirty="0"/>
              <a:t>(246Y1A0423)</a:t>
            </a:r>
          </a:p>
          <a:p>
            <a:r>
              <a:rPr lang="en-IN" dirty="0" err="1"/>
              <a:t>K.Rakshitha</a:t>
            </a:r>
            <a:r>
              <a:rPr lang="en-IN" dirty="0"/>
              <a:t>(246Y1A0426)</a:t>
            </a:r>
          </a:p>
          <a:p>
            <a:r>
              <a:rPr lang="en-IN" dirty="0" err="1"/>
              <a:t>K.srija</a:t>
            </a:r>
            <a:r>
              <a:rPr lang="en-IN" dirty="0"/>
              <a:t>(246Y1A0429)</a:t>
            </a:r>
          </a:p>
        </p:txBody>
      </p:sp>
    </p:spTree>
    <p:extLst>
      <p:ext uri="{BB962C8B-B14F-4D97-AF65-F5344CB8AC3E}">
        <p14:creationId xmlns:p14="http://schemas.microsoft.com/office/powerpoint/2010/main" val="976387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3B2854-44B4-1FBD-B274-7313607E3044}"/>
              </a:ext>
            </a:extLst>
          </p:cNvPr>
          <p:cNvSpPr txBox="1"/>
          <p:nvPr/>
        </p:nvSpPr>
        <p:spPr>
          <a:xfrm>
            <a:off x="346627" y="483148"/>
            <a:ext cx="8732059" cy="5786199"/>
          </a:xfrm>
          <a:prstGeom prst="rect">
            <a:avLst/>
          </a:prstGeom>
          <a:noFill/>
        </p:spPr>
        <p:txBody>
          <a:bodyPr wrap="square">
            <a:spAutoFit/>
          </a:bodyPr>
          <a:lstStyle/>
          <a:p>
            <a:r>
              <a:rPr lang="en-US" sz="4400" b="1" dirty="0">
                <a:solidFill>
                  <a:srgbClr val="FF0000"/>
                </a:solidFill>
              </a:rPr>
              <a:t>Abstract:-</a:t>
            </a:r>
          </a:p>
          <a:p>
            <a:endParaRPr lang="en-US" b="1" dirty="0"/>
          </a:p>
          <a:p>
            <a:pPr algn="just"/>
            <a:r>
              <a:rPr lang="en-US" sz="2800" dirty="0"/>
              <a:t>Rain sensing automatic car wiper is a smart system that automatically detects rainfall on the windshield and activates the wipers without driver intervention. The system uses a rain sensor to detect water droplets and sends signals to a microcontroller such as Arduino Uno, which processes the signal and controls the wiper motor. According to the intensity of rain, the system adjusts the speed of the wiper automatically. This technology improves driving safety by maintaining clear visibility during rainfall and reducing driver distraction.</a:t>
            </a:r>
            <a:endParaRPr lang="en-US" sz="2800" i="1" dirty="0"/>
          </a:p>
        </p:txBody>
      </p:sp>
    </p:spTree>
    <p:extLst>
      <p:ext uri="{BB962C8B-B14F-4D97-AF65-F5344CB8AC3E}">
        <p14:creationId xmlns:p14="http://schemas.microsoft.com/office/powerpoint/2010/main" val="2919330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731772-70B2-16B8-F2EC-5C2126D50217}"/>
              </a:ext>
            </a:extLst>
          </p:cNvPr>
          <p:cNvSpPr txBox="1"/>
          <p:nvPr/>
        </p:nvSpPr>
        <p:spPr>
          <a:xfrm>
            <a:off x="462169" y="377687"/>
            <a:ext cx="11623814" cy="1077218"/>
          </a:xfrm>
          <a:prstGeom prst="rect">
            <a:avLst/>
          </a:prstGeom>
          <a:noFill/>
        </p:spPr>
        <p:txBody>
          <a:bodyPr wrap="square">
            <a:spAutoFit/>
          </a:bodyPr>
          <a:lstStyle/>
          <a:p>
            <a:r>
              <a:rPr lang="en-IN" sz="3200" dirty="0">
                <a:solidFill>
                  <a:srgbClr val="FF0000"/>
                </a:solidFill>
              </a:rPr>
              <a:t>Block Diagram Flow:-</a:t>
            </a:r>
            <a:endParaRPr lang="en-IN" sz="3200" dirty="0"/>
          </a:p>
          <a:p>
            <a:endParaRPr lang="en-IN" sz="3200" dirty="0"/>
          </a:p>
        </p:txBody>
      </p:sp>
      <p:pic>
        <p:nvPicPr>
          <p:cNvPr id="6" name="Picture 5">
            <a:extLst>
              <a:ext uri="{FF2B5EF4-FFF2-40B4-BE49-F238E27FC236}">
                <a16:creationId xmlns:a16="http://schemas.microsoft.com/office/drawing/2014/main" id="{1DAB23C6-0E08-18CA-3DEC-64C4AC89EF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386" y="1432665"/>
            <a:ext cx="10287000" cy="4966607"/>
          </a:xfrm>
          <a:prstGeom prst="rect">
            <a:avLst/>
          </a:prstGeom>
        </p:spPr>
      </p:pic>
    </p:spTree>
    <p:extLst>
      <p:ext uri="{BB962C8B-B14F-4D97-AF65-F5344CB8AC3E}">
        <p14:creationId xmlns:p14="http://schemas.microsoft.com/office/powerpoint/2010/main" val="425384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23BFE9-8A52-8612-1967-D8207D0BC567}"/>
              </a:ext>
            </a:extLst>
          </p:cNvPr>
          <p:cNvSpPr txBox="1"/>
          <p:nvPr/>
        </p:nvSpPr>
        <p:spPr>
          <a:xfrm>
            <a:off x="288052" y="781259"/>
            <a:ext cx="11786715" cy="5016758"/>
          </a:xfrm>
          <a:prstGeom prst="rect">
            <a:avLst/>
          </a:prstGeom>
          <a:noFill/>
        </p:spPr>
        <p:txBody>
          <a:bodyPr wrap="square">
            <a:spAutoFit/>
          </a:bodyPr>
          <a:lstStyle/>
          <a:p>
            <a:r>
              <a:rPr lang="en-IN" sz="4000" dirty="0">
                <a:solidFill>
                  <a:srgbClr val="FF0000"/>
                </a:solidFill>
              </a:rPr>
              <a:t>Working:-</a:t>
            </a:r>
          </a:p>
          <a:p>
            <a:endParaRPr lang="en-IN" sz="2800" dirty="0">
              <a:solidFill>
                <a:srgbClr val="FF0000"/>
              </a:solidFill>
            </a:endParaRPr>
          </a:p>
          <a:p>
            <a:pPr marL="285750" indent="-285750">
              <a:buFontTx/>
              <a:buChar char="-"/>
            </a:pPr>
            <a:r>
              <a:rPr lang="en-US" sz="2400" dirty="0"/>
              <a:t>The rain sensor detects water droplets on its surface.</a:t>
            </a:r>
          </a:p>
          <a:p>
            <a:pPr marL="285750" indent="-285750">
              <a:buFontTx/>
              <a:buChar char="-"/>
            </a:pPr>
            <a:r>
              <a:rPr lang="en-US" sz="2400" dirty="0"/>
              <a:t> It converts rainfall into an electrical signal.</a:t>
            </a:r>
          </a:p>
          <a:p>
            <a:pPr marL="285750" indent="-285750">
              <a:buFontTx/>
              <a:buChar char="-"/>
            </a:pPr>
            <a:r>
              <a:rPr lang="en-US" sz="2400" dirty="0"/>
              <a:t> The microcontroller reads this sensor signal.</a:t>
            </a:r>
          </a:p>
          <a:p>
            <a:pPr marL="285750" indent="-285750">
              <a:buFontTx/>
              <a:buChar char="-"/>
            </a:pPr>
            <a:r>
              <a:rPr lang="en-US" sz="2400" dirty="0"/>
              <a:t> It compares the value with preset thresholds.</a:t>
            </a:r>
          </a:p>
          <a:p>
            <a:pPr marL="285750" indent="-285750">
              <a:buFontTx/>
              <a:buChar char="-"/>
            </a:pPr>
            <a:r>
              <a:rPr lang="en-US" sz="2400" dirty="0"/>
              <a:t> Light rain triggers slow wiper speed.</a:t>
            </a:r>
          </a:p>
          <a:p>
            <a:pPr marL="285750" indent="-285750">
              <a:buFontTx/>
              <a:buChar char="-"/>
            </a:pPr>
            <a:r>
              <a:rPr lang="en-US" sz="2400" dirty="0"/>
              <a:t> Moderate rain triggers medium wiper speed.</a:t>
            </a:r>
          </a:p>
          <a:p>
            <a:pPr marL="285750" indent="-285750">
              <a:buFontTx/>
              <a:buChar char="-"/>
            </a:pPr>
            <a:r>
              <a:rPr lang="en-US" sz="2400" dirty="0"/>
              <a:t> Heavy rain triggers fast wiper speed.</a:t>
            </a:r>
          </a:p>
          <a:p>
            <a:pPr marL="285750" indent="-285750">
              <a:buFontTx/>
              <a:buChar char="-"/>
            </a:pPr>
            <a:r>
              <a:rPr lang="en-US" sz="2400" dirty="0"/>
              <a:t> The microcontroller sends signals to the motor driver.</a:t>
            </a:r>
          </a:p>
          <a:p>
            <a:r>
              <a:rPr lang="en-US" sz="2400" dirty="0"/>
              <a:t>-      The motor driver powers the wiper motor accordingly.</a:t>
            </a:r>
          </a:p>
          <a:p>
            <a:pPr marL="285750" indent="-285750">
              <a:buFontTx/>
              <a:buChar char="-"/>
            </a:pPr>
            <a:r>
              <a:rPr lang="en-US" sz="2400" dirty="0"/>
              <a:t>Wiper blades move automatically, adjusting speed with rain intensity.</a:t>
            </a:r>
            <a:endParaRPr lang="en-IN" sz="2400" dirty="0"/>
          </a:p>
        </p:txBody>
      </p:sp>
    </p:spTree>
    <p:extLst>
      <p:ext uri="{BB962C8B-B14F-4D97-AF65-F5344CB8AC3E}">
        <p14:creationId xmlns:p14="http://schemas.microsoft.com/office/powerpoint/2010/main" val="375663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AEE604-F150-F786-B457-63BE279B342E}"/>
              </a:ext>
            </a:extLst>
          </p:cNvPr>
          <p:cNvSpPr txBox="1"/>
          <p:nvPr/>
        </p:nvSpPr>
        <p:spPr>
          <a:xfrm>
            <a:off x="728506" y="706734"/>
            <a:ext cx="10560818" cy="3724096"/>
          </a:xfrm>
          <a:prstGeom prst="rect">
            <a:avLst/>
          </a:prstGeom>
          <a:noFill/>
        </p:spPr>
        <p:txBody>
          <a:bodyPr wrap="square">
            <a:spAutoFit/>
          </a:bodyPr>
          <a:lstStyle/>
          <a:p>
            <a:r>
              <a:rPr lang="en-IN" sz="4000" dirty="0">
                <a:solidFill>
                  <a:srgbClr val="FF0000"/>
                </a:solidFill>
              </a:rPr>
              <a:t>Components Used:-</a:t>
            </a:r>
            <a:endParaRPr lang="en-IN" sz="4000" dirty="0"/>
          </a:p>
          <a:p>
            <a:endParaRPr lang="en-IN" sz="2800" dirty="0"/>
          </a:p>
          <a:p>
            <a:pPr marL="342900" indent="-342900">
              <a:buFont typeface="Wingdings" panose="05000000000000000000" pitchFamily="2" charset="2"/>
              <a:buChar char="Ø"/>
            </a:pPr>
            <a:r>
              <a:rPr lang="en-IN" sz="2400" dirty="0"/>
              <a:t>Rain </a:t>
            </a:r>
            <a:r>
              <a:rPr lang="en-IN" sz="2400" dirty="0" err="1"/>
              <a:t>SensorModule</a:t>
            </a:r>
            <a:endParaRPr lang="en-IN" sz="2400" dirty="0"/>
          </a:p>
          <a:p>
            <a:pPr marL="342900" indent="-342900">
              <a:buFont typeface="Wingdings" panose="05000000000000000000" pitchFamily="2" charset="2"/>
              <a:buChar char="Ø"/>
            </a:pPr>
            <a:r>
              <a:rPr lang="en-IN" sz="2400" dirty="0"/>
              <a:t>Arduino Uno</a:t>
            </a:r>
          </a:p>
          <a:p>
            <a:pPr marL="342900" indent="-342900">
              <a:buFont typeface="Wingdings" panose="05000000000000000000" pitchFamily="2" charset="2"/>
              <a:buChar char="Ø"/>
            </a:pPr>
            <a:r>
              <a:rPr lang="en-IN" sz="2400" dirty="0"/>
              <a:t>L298N Motor Driver Module</a:t>
            </a:r>
          </a:p>
          <a:p>
            <a:pPr marL="342900" indent="-342900">
              <a:buFont typeface="Wingdings" panose="05000000000000000000" pitchFamily="2" charset="2"/>
              <a:buChar char="Ø"/>
            </a:pPr>
            <a:r>
              <a:rPr lang="en-IN" sz="2400" dirty="0"/>
              <a:t>DC Motor (Wiper Motor)</a:t>
            </a:r>
          </a:p>
          <a:p>
            <a:pPr marL="342900" indent="-342900">
              <a:buFont typeface="Wingdings" panose="05000000000000000000" pitchFamily="2" charset="2"/>
              <a:buChar char="Ø"/>
            </a:pPr>
            <a:r>
              <a:rPr lang="en-IN" sz="2400" dirty="0"/>
              <a:t>Jumper Wires</a:t>
            </a:r>
          </a:p>
          <a:p>
            <a:pPr marL="342900" indent="-342900">
              <a:buFont typeface="Wingdings" panose="05000000000000000000" pitchFamily="2" charset="2"/>
              <a:buChar char="Ø"/>
            </a:pPr>
            <a:r>
              <a:rPr lang="en-IN" sz="2400" dirty="0"/>
              <a:t>Power Supply</a:t>
            </a:r>
          </a:p>
          <a:p>
            <a:pPr marL="342900" indent="-342900">
              <a:buFont typeface="Wingdings" panose="05000000000000000000" pitchFamily="2" charset="2"/>
              <a:buChar char="Ø"/>
            </a:pPr>
            <a:r>
              <a:rPr lang="en-IN" sz="2400" dirty="0"/>
              <a:t>Wiper Mechanism</a:t>
            </a:r>
          </a:p>
        </p:txBody>
      </p:sp>
    </p:spTree>
    <p:extLst>
      <p:ext uri="{BB962C8B-B14F-4D97-AF65-F5344CB8AC3E}">
        <p14:creationId xmlns:p14="http://schemas.microsoft.com/office/powerpoint/2010/main" val="1709508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9B06E8-B103-EDE7-205A-1CE6CFA1FF5A}"/>
              </a:ext>
            </a:extLst>
          </p:cNvPr>
          <p:cNvSpPr txBox="1"/>
          <p:nvPr/>
        </p:nvSpPr>
        <p:spPr>
          <a:xfrm>
            <a:off x="552660" y="492369"/>
            <a:ext cx="9244483" cy="3570208"/>
          </a:xfrm>
          <a:prstGeom prst="rect">
            <a:avLst/>
          </a:prstGeom>
          <a:noFill/>
        </p:spPr>
        <p:txBody>
          <a:bodyPr wrap="square">
            <a:spAutoFit/>
          </a:bodyPr>
          <a:lstStyle/>
          <a:p>
            <a:r>
              <a:rPr lang="en-US" sz="4000" dirty="0">
                <a:solidFill>
                  <a:srgbClr val="FF0000"/>
                </a:solidFill>
              </a:rPr>
              <a:t>Advantages:-</a:t>
            </a:r>
          </a:p>
          <a:p>
            <a:endParaRPr lang="en-US" dirty="0"/>
          </a:p>
          <a:p>
            <a:pPr marL="457200" indent="-457200">
              <a:buFont typeface="Wingdings" panose="05000000000000000000" pitchFamily="2" charset="2"/>
              <a:buChar char="Ø"/>
            </a:pPr>
            <a:r>
              <a:rPr lang="en-US" sz="2800" dirty="0"/>
              <a:t>Improves driving safety</a:t>
            </a:r>
          </a:p>
          <a:p>
            <a:pPr marL="457200" indent="-457200">
              <a:buFont typeface="Wingdings" panose="05000000000000000000" pitchFamily="2" charset="2"/>
              <a:buChar char="Ø"/>
            </a:pPr>
            <a:r>
              <a:rPr lang="en-US" sz="2800" dirty="0"/>
              <a:t>Automatic operation</a:t>
            </a:r>
          </a:p>
          <a:p>
            <a:pPr marL="457200" indent="-457200">
              <a:buFont typeface="Wingdings" panose="05000000000000000000" pitchFamily="2" charset="2"/>
              <a:buChar char="Ø"/>
            </a:pPr>
            <a:r>
              <a:rPr lang="en-US" sz="2800" dirty="0"/>
              <a:t>Reduces driver distraction</a:t>
            </a:r>
          </a:p>
          <a:p>
            <a:pPr marL="457200" indent="-457200">
              <a:buFont typeface="Wingdings" panose="05000000000000000000" pitchFamily="2" charset="2"/>
              <a:buChar char="Ø"/>
            </a:pPr>
            <a:r>
              <a:rPr lang="en-US" sz="2800" dirty="0"/>
              <a:t>Adjusts wiper </a:t>
            </a:r>
          </a:p>
          <a:p>
            <a:pPr marL="457200" indent="-457200">
              <a:buFont typeface="Wingdings" panose="05000000000000000000" pitchFamily="2" charset="2"/>
              <a:buChar char="Ø"/>
            </a:pPr>
            <a:r>
              <a:rPr lang="en-US" sz="2800" dirty="0"/>
              <a:t>speed according to rain intensity</a:t>
            </a:r>
          </a:p>
          <a:p>
            <a:pPr marL="457200" indent="-457200">
              <a:buFont typeface="Wingdings" panose="05000000000000000000" pitchFamily="2" charset="2"/>
              <a:buChar char="Ø"/>
            </a:pPr>
            <a:r>
              <a:rPr lang="en-US" sz="2800" dirty="0"/>
              <a:t>Saves time and effort</a:t>
            </a:r>
            <a:endParaRPr lang="en-IN" sz="2800" dirty="0"/>
          </a:p>
        </p:txBody>
      </p:sp>
    </p:spTree>
    <p:extLst>
      <p:ext uri="{BB962C8B-B14F-4D97-AF65-F5344CB8AC3E}">
        <p14:creationId xmlns:p14="http://schemas.microsoft.com/office/powerpoint/2010/main" val="3118383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D260EB-A426-6182-FC8B-155B34C8F031}"/>
              </a:ext>
            </a:extLst>
          </p:cNvPr>
          <p:cNvSpPr txBox="1"/>
          <p:nvPr/>
        </p:nvSpPr>
        <p:spPr>
          <a:xfrm>
            <a:off x="536713" y="387626"/>
            <a:ext cx="9153939" cy="2800767"/>
          </a:xfrm>
          <a:prstGeom prst="rect">
            <a:avLst/>
          </a:prstGeom>
          <a:noFill/>
        </p:spPr>
        <p:txBody>
          <a:bodyPr wrap="square">
            <a:spAutoFit/>
          </a:bodyPr>
          <a:lstStyle/>
          <a:p>
            <a:r>
              <a:rPr lang="en-IN" sz="3600" dirty="0">
                <a:solidFill>
                  <a:srgbClr val="FF0000"/>
                </a:solidFill>
              </a:rPr>
              <a:t>Applications:-</a:t>
            </a:r>
          </a:p>
          <a:p>
            <a:endParaRPr lang="en-IN" sz="2800" dirty="0">
              <a:solidFill>
                <a:srgbClr val="FF0000"/>
              </a:solidFill>
            </a:endParaRPr>
          </a:p>
          <a:p>
            <a:pPr marL="457200" indent="-457200">
              <a:buFont typeface="Wingdings" panose="05000000000000000000" pitchFamily="2" charset="2"/>
              <a:buChar char="Ø"/>
            </a:pPr>
            <a:r>
              <a:rPr lang="en-IN" sz="2800" dirty="0"/>
              <a:t>Modern automobiles and smart vehicles</a:t>
            </a:r>
          </a:p>
          <a:p>
            <a:pPr marL="457200" indent="-457200">
              <a:buFont typeface="Wingdings" panose="05000000000000000000" pitchFamily="2" charset="2"/>
              <a:buChar char="Ø"/>
            </a:pPr>
            <a:r>
              <a:rPr lang="en-IN" sz="2800" dirty="0"/>
              <a:t>Automatic windshield cleaning systems</a:t>
            </a:r>
          </a:p>
          <a:p>
            <a:pPr marL="457200" indent="-457200">
              <a:buFont typeface="Wingdings" panose="05000000000000000000" pitchFamily="2" charset="2"/>
              <a:buChar char="Ø"/>
            </a:pPr>
            <a:r>
              <a:rPr lang="en-IN" sz="2800" dirty="0"/>
              <a:t>Advanced driver assistance systems (ADAS)</a:t>
            </a:r>
          </a:p>
          <a:p>
            <a:pPr marL="457200" indent="-457200">
              <a:buFont typeface="Wingdings" panose="05000000000000000000" pitchFamily="2" charset="2"/>
              <a:buChar char="Ø"/>
            </a:pPr>
            <a:r>
              <a:rPr lang="en-IN" sz="2800" dirty="0"/>
              <a:t>Smart transportation systems</a:t>
            </a:r>
          </a:p>
        </p:txBody>
      </p:sp>
    </p:spTree>
    <p:extLst>
      <p:ext uri="{BB962C8B-B14F-4D97-AF65-F5344CB8AC3E}">
        <p14:creationId xmlns:p14="http://schemas.microsoft.com/office/powerpoint/2010/main" val="947653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3E5110-7AA4-3613-CD1E-1359D4728911}"/>
              </a:ext>
            </a:extLst>
          </p:cNvPr>
          <p:cNvSpPr txBox="1"/>
          <p:nvPr/>
        </p:nvSpPr>
        <p:spPr>
          <a:xfrm>
            <a:off x="566529" y="437321"/>
            <a:ext cx="9501809" cy="5570756"/>
          </a:xfrm>
          <a:prstGeom prst="rect">
            <a:avLst/>
          </a:prstGeom>
          <a:noFill/>
        </p:spPr>
        <p:txBody>
          <a:bodyPr wrap="square">
            <a:spAutoFit/>
          </a:bodyPr>
          <a:lstStyle/>
          <a:p>
            <a:r>
              <a:rPr lang="en-IN" sz="3200" dirty="0">
                <a:solidFill>
                  <a:srgbClr val="FF0000"/>
                </a:solidFill>
              </a:rPr>
              <a:t>Conclusion:-</a:t>
            </a:r>
          </a:p>
          <a:p>
            <a:r>
              <a:rPr lang="en-IN" sz="3600" dirty="0"/>
              <a:t>The rain sensing automatic car wiper system provides an efficient solution for maintaining windshield visibility during rainfall. By automatically detecting rain and controlling the wiper speed, the system enhances driver comfort and safety. This technology is widely used in modern vehicles and represents an important step toward intelligent automotive systems.</a:t>
            </a:r>
          </a:p>
        </p:txBody>
      </p:sp>
    </p:spTree>
    <p:extLst>
      <p:ext uri="{BB962C8B-B14F-4D97-AF65-F5344CB8AC3E}">
        <p14:creationId xmlns:p14="http://schemas.microsoft.com/office/powerpoint/2010/main" val="38534751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40</TotalTime>
  <Words>349</Words>
  <Application>Microsoft Office PowerPoint</Application>
  <PresentationFormat>Widescreen</PresentationFormat>
  <Paragraphs>51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Century Gothic</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Jakka Abitha</dc:creator>
  <cp:lastModifiedBy>User</cp:lastModifiedBy>
  <cp:revision>2</cp:revision>
  <dcterms:created xsi:type="dcterms:W3CDTF">2026-03-10T13:48:57Z</dcterms:created>
  <dcterms:modified xsi:type="dcterms:W3CDTF">2026-04-04T06:48:59Z</dcterms:modified>
</cp:coreProperties>
</file>